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9" r:id="rId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1"/>
    <p:restoredTop sz="94669"/>
  </p:normalViewPr>
  <p:slideViewPr>
    <p:cSldViewPr snapToGrid="0">
      <p:cViewPr varScale="1">
        <p:scale>
          <a:sx n="114" d="100"/>
          <a:sy n="114" d="100"/>
        </p:scale>
        <p:origin x="40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0C18BD-D873-8EBD-E23C-8BFCB1A8F8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8C0BD97-1F7B-BCA0-6D2A-BA0460E581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5BCE99A-2972-AAE2-B5A0-315B3BA0F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041C5-5364-104A-991B-CC231C78A25E}" type="datetimeFigureOut">
              <a:rPr lang="ru-RU" smtClean="0"/>
              <a:t>16.10.2026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3BFA94D-AA33-16E4-BD76-917707C48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173B2CA-E5FA-83FB-7A21-386EB2928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360F3-E6C0-654B-BFCF-52440048DB2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68947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D9F81E9-FB71-BBB6-46AF-49953EFB4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F0D7FF9-39C8-F555-F9A4-48491D64C9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F095918-B581-AF2C-1674-5D7ADD856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041C5-5364-104A-991B-CC231C78A25E}" type="datetimeFigureOut">
              <a:rPr lang="ru-RU" smtClean="0"/>
              <a:t>16.10.2026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0DD085B-9357-BDA2-200D-BD7745080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2654091-F1DE-9756-04B4-CCF9B1B6E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360F3-E6C0-654B-BFCF-52440048DB2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33826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93EF77-4C30-4EC2-194D-11BF1DA05F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18E86B0-26FE-C387-8090-0C39A113BE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84DD91C-BDD7-1CF9-ABD9-070DCA8260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041C5-5364-104A-991B-CC231C78A25E}" type="datetimeFigureOut">
              <a:rPr lang="ru-RU" smtClean="0"/>
              <a:t>16.10.2026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74C9217-C64F-4641-AF7B-613ADEA87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F0EAF0F-C5CD-EB96-34D1-6543859FC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360F3-E6C0-654B-BFCF-52440048DB2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827370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E7167B-A41F-44EB-EE61-2BCBC445F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4128124-0C43-7B96-F81C-5987DA9017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88C7ADD-3CCB-6326-896C-AB3F0DEB55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07383A0-976D-9862-1E9C-5F39293009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041C5-5364-104A-991B-CC231C78A25E}" type="datetimeFigureOut">
              <a:rPr lang="ru-RU" smtClean="0"/>
              <a:t>16.10.2026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DCD63FA-6613-AADB-E9AF-269FFA7AC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F9C4DC1-3C1A-76F8-D7A4-4B0BC596E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360F3-E6C0-654B-BFCF-52440048DB2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93640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FC0404-59FE-58F2-8843-379C0ECE3C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E24EBAE-EDE5-F68B-6EBD-5AAC0E6A0D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F572FA6-9E01-A708-471E-3544DED53E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117ACD73-26AB-58CF-A537-342818A35B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74756A8E-5A78-B9D6-2B3A-0C108664DF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C348AFE6-52A9-2F52-05B1-23965A9728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041C5-5364-104A-991B-CC231C78A25E}" type="datetimeFigureOut">
              <a:rPr lang="ru-RU" smtClean="0"/>
              <a:t>16.10.2026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2E76BAC8-65C0-DEC5-C803-2E60340777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BA1653B6-E958-03FC-9AD6-FAB6ED5B9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360F3-E6C0-654B-BFCF-52440048DB2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15622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789393-E043-399E-8DA0-7C08534AC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86B9835D-CBC6-7FFA-FD49-2C66CBBAC0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041C5-5364-104A-991B-CC231C78A25E}" type="datetimeFigureOut">
              <a:rPr lang="ru-RU" smtClean="0"/>
              <a:t>16.10.2026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9CF50A7-E200-DA68-98D4-D2CBB334CF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349FD2B-F66A-EB4A-429F-E13EEA477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360F3-E6C0-654B-BFCF-52440048DB2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10202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DE462B3B-EA88-E918-5648-CBD2C240F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041C5-5364-104A-991B-CC231C78A25E}" type="datetimeFigureOut">
              <a:rPr lang="ru-RU" smtClean="0"/>
              <a:t>16.10.2026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F065DF3-FF33-98C5-C74C-45DF0BFB5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7144F3B-AF5C-EEFD-0A88-8417CC6728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360F3-E6C0-654B-BFCF-52440048DB2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05762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2253E4-776C-0CB5-E2A9-764EF58E02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872C2E2-6ABB-F2B2-4863-EC07ACA57F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F2B12EF-D3BF-630E-7DF6-983D164454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1538D05-AD66-C645-1761-CF29CC0017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041C5-5364-104A-991B-CC231C78A25E}" type="datetimeFigureOut">
              <a:rPr lang="ru-RU" smtClean="0"/>
              <a:t>16.10.2026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CB18593-2D3B-C4E7-AF47-0FF42B023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576E60C-7AFD-820F-C1B5-2F543D181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360F3-E6C0-654B-BFCF-52440048DB2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8548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08F4D2-C8D3-9478-D5F1-642F7A8C8C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F625760F-3027-3980-34CB-183A43432D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BFBA6E1-8260-503C-D832-00E4EA14E9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2E58F12-CEA1-6A7F-D79E-631914F2EF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041C5-5364-104A-991B-CC231C78A25E}" type="datetimeFigureOut">
              <a:rPr lang="ru-RU" smtClean="0"/>
              <a:t>16.10.2026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46C2276-4806-CCA5-03E5-04A952E1ED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BCD663D-AABD-4F0A-71E8-8C0550691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360F3-E6C0-654B-BFCF-52440048DB2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24914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2E87B0-CD01-6DD4-817F-92732CF85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92D7204-3F28-FB35-CAAD-1008293BEC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A36B6C4-DDF3-FD84-C542-9341D0792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041C5-5364-104A-991B-CC231C78A25E}" type="datetimeFigureOut">
              <a:rPr lang="ru-RU" smtClean="0"/>
              <a:t>16.10.2026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DF7217F-5728-4BB9-6907-38A0F43D0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A224CAA-FF27-86AC-A5BA-488ECE19D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360F3-E6C0-654B-BFCF-52440048DB2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19373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F6B03783-B7B4-7DA3-F6F7-4DEFC7747B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42354F1-3A8E-99A8-793E-CD30C39D6E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BF1A7C1-FED4-436A-2017-6E0535DF0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041C5-5364-104A-991B-CC231C78A25E}" type="datetimeFigureOut">
              <a:rPr lang="ru-RU" smtClean="0"/>
              <a:t>16.10.2026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DED1BB6-595F-50F0-FABB-830D94810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03AE2A7-B99F-3AE1-CCDC-2F60F1C85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360F3-E6C0-654B-BFCF-52440048DB2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90651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0E479F-6749-5CBB-D5B0-4B25F47C06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82E7195-D08C-288B-0F23-C82584A223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B64FC16-10C6-4069-0F8E-7A76B5D1D0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9041C5-5364-104A-991B-CC231C78A25E}" type="datetimeFigureOut">
              <a:rPr lang="ru-RU" smtClean="0"/>
              <a:t>16.10.2026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11FAC1B-A9F8-70C9-E7A8-E8DC5DCAB8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17D1B56-54E5-C909-5F2B-8ACF023147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8360F3-E6C0-654B-BFCF-52440048DB2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7110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FB41B6B6-5574-4F61-C378-3A80C6D28B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8901664"/>
              </p:ext>
            </p:extLst>
          </p:nvPr>
        </p:nvGraphicFramePr>
        <p:xfrm>
          <a:off x="0" y="0"/>
          <a:ext cx="12192000" cy="6858001"/>
        </p:xfrm>
        <a:graphic>
          <a:graphicData uri="http://schemas.openxmlformats.org/drawingml/2006/table">
            <a:tbl>
              <a:tblPr/>
              <a:tblGrid>
                <a:gridCol w="2438400">
                  <a:extLst>
                    <a:ext uri="{9D8B030D-6E8A-4147-A177-3AD203B41FA5}">
                      <a16:colId xmlns:a16="http://schemas.microsoft.com/office/drawing/2014/main" val="24686013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531546678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789780905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70010167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3949224342"/>
                    </a:ext>
                  </a:extLst>
                </a:gridCol>
              </a:tblGrid>
              <a:tr h="553983">
                <a:tc>
                  <a:txBody>
                    <a:bodyPr/>
                    <a:lstStyle/>
                    <a:p>
                      <a:pPr marL="0" marR="0">
                        <a:lnSpc>
                          <a:spcPts val="1800"/>
                        </a:lnSpc>
                        <a:spcAft>
                          <a:spcPts val="300"/>
                        </a:spcAft>
                      </a:pPr>
                      <a:r>
                        <a:rPr lang="ru-RU" sz="160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</a:rPr>
                        <a:t>Этап</a:t>
                      </a:r>
                    </a:p>
                  </a:txBody>
                  <a:tcPr marL="58395" marR="58395" marT="35037" marB="35037" anchor="ctr">
                    <a:lnL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00"/>
                        </a:lnSpc>
                        <a:spcAft>
                          <a:spcPts val="300"/>
                        </a:spcAft>
                      </a:pPr>
                      <a:r>
                        <a:rPr lang="ru-RU" sz="160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</a:rPr>
                        <a:t>Действие пользователя</a:t>
                      </a:r>
                    </a:p>
                  </a:txBody>
                  <a:tcPr marL="58395" marR="58395" marT="35037" marB="35037" anchor="ctr">
                    <a:lnL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00"/>
                        </a:lnSpc>
                        <a:spcAft>
                          <a:spcPts val="300"/>
                        </a:spcAft>
                      </a:pPr>
                      <a:r>
                        <a:rPr lang="ru-RU" sz="160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</a:rPr>
                        <a:t>Мысли и Эмоция</a:t>
                      </a:r>
                    </a:p>
                  </a:txBody>
                  <a:tcPr marL="58395" marR="58395" marT="35037" marB="35037" anchor="ctr">
                    <a:lnL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00"/>
                        </a:lnSpc>
                        <a:spcAft>
                          <a:spcPts val="300"/>
                        </a:spcAft>
                      </a:pPr>
                      <a:r>
                        <a:rPr lang="ru-RU" sz="160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</a:rPr>
                        <a:t>Боль / Проблема</a:t>
                      </a:r>
                    </a:p>
                  </a:txBody>
                  <a:tcPr marL="58395" marR="58395" marT="35037" marB="35037" anchor="ctr">
                    <a:lnL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00"/>
                        </a:lnSpc>
                        <a:spcAft>
                          <a:spcPts val="300"/>
                        </a:spcAft>
                      </a:pPr>
                      <a:r>
                        <a:rPr lang="ru-RU" sz="160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</a:rPr>
                        <a:t>Решение в продукте</a:t>
                      </a:r>
                    </a:p>
                  </a:txBody>
                  <a:tcPr marL="58395" marR="58395" marT="35037" marB="35037" anchor="ctr">
                    <a:lnL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3787725"/>
                  </a:ext>
                </a:extLst>
              </a:tr>
              <a:tr h="1216628">
                <a:tc>
                  <a:txBody>
                    <a:bodyPr/>
                    <a:lstStyle/>
                    <a:p>
                      <a:pPr marL="0" marR="0">
                        <a:lnSpc>
                          <a:spcPts val="1800"/>
                        </a:lnSpc>
                        <a:spcAft>
                          <a:spcPts val="300"/>
                        </a:spcAft>
                      </a:pPr>
                      <a:r>
                        <a:rPr lang="ru-RU" sz="1600" b="1" dirty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</a:rPr>
                        <a:t>1. Осознание</a:t>
                      </a:r>
                      <a:endParaRPr lang="ru-RU" sz="1600" dirty="0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58395" marR="58395" marT="35037" marB="35037" anchor="ctr">
                    <a:lnL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00"/>
                        </a:lnSpc>
                        <a:spcAft>
                          <a:spcPts val="300"/>
                        </a:spcAft>
                      </a:pPr>
                      <a:r>
                        <a:rPr lang="ru-RU" sz="160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</a:rPr>
                        <a:t>Вышла из метро, опаздывает на пару в ауд. 412-к. Не знает, где корпус К.</a:t>
                      </a:r>
                    </a:p>
                  </a:txBody>
                  <a:tcPr marL="58395" marR="58395" marT="35037" marB="35037" anchor="ctr">
                    <a:lnL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00"/>
                        </a:lnSpc>
                        <a:spcAft>
                          <a:spcPts val="300"/>
                        </a:spcAft>
                      </a:pPr>
                      <a:r>
                        <a:rPr lang="ru-RU" sz="160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</a:rPr>
                        <a:t>😟 </a:t>
                      </a:r>
                      <a:r>
                        <a:rPr lang="ru-RU" sz="1600" b="1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</a:rPr>
                        <a:t>Тревога.</a:t>
                      </a:r>
                      <a:r>
                        <a:rPr lang="ru-RU" sz="160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</a:rPr>
                        <a:t> «Где корпус К? Я опоздаю!»</a:t>
                      </a:r>
                    </a:p>
                  </a:txBody>
                  <a:tcPr marL="58395" marR="58395" marT="35037" marB="35037" anchor="ctr">
                    <a:lnL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00"/>
                        </a:lnSpc>
                        <a:spcAft>
                          <a:spcPts val="300"/>
                        </a:spcAft>
                      </a:pPr>
                      <a:r>
                        <a:rPr lang="ru-RU" sz="160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</a:rPr>
                        <a:t>Нет указателей. Бумажная карта порвана. Непонятно, что значит «-к».</a:t>
                      </a:r>
                    </a:p>
                  </a:txBody>
                  <a:tcPr marL="58395" marR="58395" marT="35037" marB="35037" anchor="ctr">
                    <a:lnL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00"/>
                        </a:lnSpc>
                        <a:spcAft>
                          <a:spcPts val="300"/>
                        </a:spcAft>
                      </a:pPr>
                      <a:r>
                        <a:rPr lang="en" sz="160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</a:rPr>
                        <a:t>QR-</a:t>
                      </a:r>
                      <a:r>
                        <a:rPr lang="ru-RU" sz="160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</a:rPr>
                        <a:t>код у входа. Подсказка: «Формат: номер-корпус (напр. 412-к)».</a:t>
                      </a:r>
                    </a:p>
                  </a:txBody>
                  <a:tcPr marL="58395" marR="58395" marT="35037" marB="35037" anchor="ctr">
                    <a:lnL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4666476"/>
                  </a:ext>
                </a:extLst>
              </a:tr>
              <a:tr h="1437509">
                <a:tc>
                  <a:txBody>
                    <a:bodyPr/>
                    <a:lstStyle/>
                    <a:p>
                      <a:pPr marL="0" marR="0">
                        <a:lnSpc>
                          <a:spcPts val="1800"/>
                        </a:lnSpc>
                        <a:spcAft>
                          <a:spcPts val="300"/>
                        </a:spcAft>
                      </a:pPr>
                      <a:r>
                        <a:rPr lang="ru-RU" sz="1600" b="1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</a:rPr>
                        <a:t>2. Доступ</a:t>
                      </a:r>
                      <a:endParaRPr lang="ru-RU" sz="1600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58395" marR="58395" marT="35037" marB="35037" anchor="ctr">
                    <a:lnL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00"/>
                        </a:lnSpc>
                        <a:spcAft>
                          <a:spcPts val="300"/>
                        </a:spcAft>
                      </a:pPr>
                      <a:r>
                        <a:rPr lang="ru-RU" sz="160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</a:rPr>
                        <a:t>Открывает сайт в переходе.</a:t>
                      </a:r>
                    </a:p>
                  </a:txBody>
                  <a:tcPr marL="58395" marR="58395" marT="35037" marB="35037" anchor="ctr">
                    <a:lnL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00"/>
                        </a:lnSpc>
                        <a:spcAft>
                          <a:spcPts val="300"/>
                        </a:spcAft>
                      </a:pPr>
                      <a:r>
                        <a:rPr lang="ru-RU" sz="160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</a:rPr>
                        <a:t>🤞 </a:t>
                      </a:r>
                      <a:r>
                        <a:rPr lang="ru-RU" sz="1600" b="1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</a:rPr>
                        <a:t>Надежда + страх.</a:t>
                      </a:r>
                      <a:r>
                        <a:rPr lang="ru-RU" sz="160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</a:rPr>
                        <a:t> «Интернет плохой, вдруг не загрузится?»</a:t>
                      </a:r>
                    </a:p>
                  </a:txBody>
                  <a:tcPr marL="58395" marR="58395" marT="35037" marB="35037" anchor="ctr">
                    <a:lnL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00"/>
                        </a:lnSpc>
                        <a:spcAft>
                          <a:spcPts val="300"/>
                        </a:spcAft>
                      </a:pPr>
                      <a:r>
                        <a:rPr lang="ru-RU" sz="160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</a:rPr>
                        <a:t>Плохой сигнал.</a:t>
                      </a:r>
                    </a:p>
                  </a:txBody>
                  <a:tcPr marL="58395" marR="58395" marT="35037" marB="35037" anchor="ctr">
                    <a:lnL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00"/>
                        </a:lnSpc>
                        <a:spcAft>
                          <a:spcPts val="300"/>
                        </a:spcAft>
                      </a:pPr>
                      <a:r>
                        <a:rPr lang="ru-RU" sz="1600" b="1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</a:rPr>
                        <a:t>Оффлайн-режим:</a:t>
                      </a:r>
                      <a:r>
                        <a:rPr lang="ru-RU" sz="160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</a:rPr>
                        <a:t> карта в </a:t>
                      </a:r>
                      <a:r>
                        <a:rPr lang="en" sz="160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</a:rPr>
                        <a:t>LocalStorage. </a:t>
                      </a:r>
                      <a:r>
                        <a:rPr lang="ru-RU" sz="160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</a:rPr>
                        <a:t>Загрузка &lt;1 сек. Индикатор «Оффлайн».</a:t>
                      </a:r>
                    </a:p>
                  </a:txBody>
                  <a:tcPr marL="58395" marR="58395" marT="35037" marB="35037" anchor="ctr">
                    <a:lnL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5462204"/>
                  </a:ext>
                </a:extLst>
              </a:tr>
              <a:tr h="1437509">
                <a:tc>
                  <a:txBody>
                    <a:bodyPr/>
                    <a:lstStyle/>
                    <a:p>
                      <a:pPr marL="0" marR="0">
                        <a:lnSpc>
                          <a:spcPts val="1800"/>
                        </a:lnSpc>
                        <a:spcAft>
                          <a:spcPts val="300"/>
                        </a:spcAft>
                      </a:pPr>
                      <a:r>
                        <a:rPr lang="ru-RU" sz="1600" b="1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</a:rPr>
                        <a:t>3. Поиск</a:t>
                      </a:r>
                      <a:endParaRPr lang="ru-RU" sz="1600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58395" marR="58395" marT="35037" marB="35037" anchor="ctr">
                    <a:lnL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00"/>
                        </a:lnSpc>
                        <a:spcAft>
                          <a:spcPts val="300"/>
                        </a:spcAft>
                      </a:pPr>
                      <a:r>
                        <a:rPr lang="ru-RU" sz="160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</a:rPr>
                        <a:t>Вводит «412-к».</a:t>
                      </a:r>
                    </a:p>
                  </a:txBody>
                  <a:tcPr marL="58395" marR="58395" marT="35037" marB="35037" anchor="ctr">
                    <a:lnL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00"/>
                        </a:lnSpc>
                        <a:spcAft>
                          <a:spcPts val="300"/>
                        </a:spcAft>
                      </a:pPr>
                      <a:r>
                        <a:rPr lang="ru-RU" sz="160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</a:rPr>
                        <a:t>😐 </a:t>
                      </a:r>
                      <a:r>
                        <a:rPr lang="ru-RU" sz="1600" b="1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</a:rPr>
                        <a:t>Сомнение.</a:t>
                      </a:r>
                      <a:r>
                        <a:rPr lang="ru-RU" sz="160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</a:rPr>
                        <a:t> «Нужно ли выбирать корпус отдельно?»</a:t>
                      </a:r>
                    </a:p>
                  </a:txBody>
                  <a:tcPr marL="58395" marR="58395" marT="35037" marB="35037" anchor="ctr">
                    <a:lnL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00"/>
                        </a:lnSpc>
                        <a:spcAft>
                          <a:spcPts val="300"/>
                        </a:spcAft>
                      </a:pPr>
                      <a:r>
                        <a:rPr lang="ru-RU" sz="160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</a:rPr>
                        <a:t>Неясный формат ввода.</a:t>
                      </a:r>
                    </a:p>
                  </a:txBody>
                  <a:tcPr marL="58395" marR="58395" marT="35037" marB="35037" anchor="ctr">
                    <a:lnL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00"/>
                        </a:lnSpc>
                        <a:spcAft>
                          <a:spcPts val="300"/>
                        </a:spcAft>
                      </a:pPr>
                      <a:r>
                        <a:rPr lang="ru-RU" sz="160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</a:rPr>
                        <a:t>Единое поле с автодополнением. Принимает «412-к», «412к». Мгновенный результат.</a:t>
                      </a:r>
                    </a:p>
                  </a:txBody>
                  <a:tcPr marL="58395" marR="58395" marT="35037" marB="35037" anchor="ctr">
                    <a:lnL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9969829"/>
                  </a:ext>
                </a:extLst>
              </a:tr>
              <a:tr h="995744">
                <a:tc>
                  <a:txBody>
                    <a:bodyPr/>
                    <a:lstStyle/>
                    <a:p>
                      <a:pPr marL="0" marR="0">
                        <a:lnSpc>
                          <a:spcPts val="1800"/>
                        </a:lnSpc>
                        <a:spcAft>
                          <a:spcPts val="300"/>
                        </a:spcAft>
                      </a:pPr>
                      <a:r>
                        <a:rPr lang="ru-RU" sz="1600" b="1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</a:rPr>
                        <a:t>4. Маршрут</a:t>
                      </a:r>
                      <a:endParaRPr lang="ru-RU" sz="1600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58395" marR="58395" marT="35037" marB="35037" anchor="ctr">
                    <a:lnL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00"/>
                        </a:lnSpc>
                        <a:spcAft>
                          <a:spcPts val="300"/>
                        </a:spcAft>
                      </a:pPr>
                      <a:r>
                        <a:rPr lang="ru-RU" sz="160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</a:rPr>
                        <a:t>Идёт по коридору, смотрит схему.</a:t>
                      </a:r>
                    </a:p>
                  </a:txBody>
                  <a:tcPr marL="58395" marR="58395" marT="35037" marB="35037" anchor="ctr">
                    <a:lnL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00"/>
                        </a:lnSpc>
                        <a:spcAft>
                          <a:spcPts val="300"/>
                        </a:spcAft>
                      </a:pPr>
                      <a:r>
                        <a:rPr lang="ru-RU" sz="1600" dirty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</a:rPr>
                        <a:t>😐 </a:t>
                      </a:r>
                      <a:r>
                        <a:rPr lang="ru-RU" sz="1600" b="1" dirty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</a:rPr>
                        <a:t>Неуверенность.</a:t>
                      </a:r>
                      <a:r>
                        <a:rPr lang="ru-RU" sz="1600" dirty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</a:rPr>
                        <a:t> «Где повернуть? Где лифт?»</a:t>
                      </a:r>
                    </a:p>
                  </a:txBody>
                  <a:tcPr marL="58395" marR="58395" marT="35037" marB="35037" anchor="ctr">
                    <a:lnL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00"/>
                        </a:lnSpc>
                        <a:spcAft>
                          <a:spcPts val="300"/>
                        </a:spcAft>
                      </a:pPr>
                      <a:r>
                        <a:rPr lang="ru-RU" sz="160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</a:rPr>
                        <a:t>Мелкая схема, нет ориентиров.</a:t>
                      </a:r>
                    </a:p>
                  </a:txBody>
                  <a:tcPr marL="58395" marR="58395" marT="35037" marB="35037" anchor="ctr">
                    <a:lnL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00"/>
                        </a:lnSpc>
                        <a:spcAft>
                          <a:spcPts val="300"/>
                        </a:spcAft>
                      </a:pPr>
                      <a:r>
                        <a:rPr lang="ru-RU" sz="160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</a:rPr>
                        <a:t>Цветовая дорожка. Иконки Л/Лфт. Кнопка зума.</a:t>
                      </a:r>
                    </a:p>
                  </a:txBody>
                  <a:tcPr marL="58395" marR="58395" marT="35037" marB="35037" anchor="ctr">
                    <a:lnL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7115634"/>
                  </a:ext>
                </a:extLst>
              </a:tr>
              <a:tr h="1216628">
                <a:tc>
                  <a:txBody>
                    <a:bodyPr/>
                    <a:lstStyle/>
                    <a:p>
                      <a:pPr marL="0" marR="0">
                        <a:lnSpc>
                          <a:spcPts val="1800"/>
                        </a:lnSpc>
                        <a:spcAft>
                          <a:spcPts val="300"/>
                        </a:spcAft>
                      </a:pPr>
                      <a:r>
                        <a:rPr lang="ru-RU" sz="1600" b="1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</a:rPr>
                        <a:t>5. Результат</a:t>
                      </a:r>
                      <a:endParaRPr lang="ru-RU" sz="1600">
                        <a:solidFill>
                          <a:srgbClr val="000000"/>
                        </a:solidFill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58395" marR="58395" marT="35037" marB="35037" anchor="ctr">
                    <a:lnL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00"/>
                        </a:lnSpc>
                        <a:spcAft>
                          <a:spcPts val="300"/>
                        </a:spcAft>
                      </a:pPr>
                      <a:r>
                        <a:rPr lang="ru-RU" sz="160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</a:rPr>
                        <a:t>Дошла до ауд. 412-к. Успела.</a:t>
                      </a:r>
                    </a:p>
                  </a:txBody>
                  <a:tcPr marL="58395" marR="58395" marT="35037" marB="35037" anchor="ctr">
                    <a:lnL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00"/>
                        </a:lnSpc>
                        <a:spcAft>
                          <a:spcPts val="300"/>
                        </a:spcAft>
                      </a:pPr>
                      <a:r>
                        <a:rPr lang="ru-RU" sz="160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</a:rPr>
                        <a:t>😊 </a:t>
                      </a:r>
                      <a:r>
                        <a:rPr lang="ru-RU" sz="1600" b="1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</a:rPr>
                        <a:t>Радость.</a:t>
                      </a:r>
                      <a:r>
                        <a:rPr lang="ru-RU" sz="160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</a:rPr>
                        <a:t> «Нашла! Нужно позвонить преподавателю.»</a:t>
                      </a:r>
                    </a:p>
                  </a:txBody>
                  <a:tcPr marL="58395" marR="58395" marT="35037" marB="35037" anchor="ctr">
                    <a:lnL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00"/>
                        </a:lnSpc>
                        <a:spcAft>
                          <a:spcPts val="300"/>
                        </a:spcAft>
                      </a:pPr>
                      <a:r>
                        <a:rPr lang="ru-RU" sz="160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</a:rPr>
                        <a:t>Хочет контакты, но не хочет искать отдельно.</a:t>
                      </a:r>
                    </a:p>
                  </a:txBody>
                  <a:tcPr marL="58395" marR="58395" marT="35037" marB="35037" anchor="ctr">
                    <a:lnL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00"/>
                        </a:lnSpc>
                        <a:spcAft>
                          <a:spcPts val="300"/>
                        </a:spcAft>
                      </a:pPr>
                      <a:r>
                        <a:rPr lang="ru-RU" sz="1600" dirty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</a:rPr>
                        <a:t>Блок «Контакты кафедры» под картой. </a:t>
                      </a:r>
                      <a:r>
                        <a:rPr lang="ru-RU" sz="1600" dirty="0" err="1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</a:rPr>
                        <a:t>Кликабельный</a:t>
                      </a:r>
                      <a:r>
                        <a:rPr lang="ru-RU" sz="1600" dirty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</a:rPr>
                        <a:t> телефон.</a:t>
                      </a:r>
                    </a:p>
                  </a:txBody>
                  <a:tcPr marL="58395" marR="58395" marT="35037" marB="35037" anchor="ctr">
                    <a:lnL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19495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1564475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228</Words>
  <Application>Microsoft Macintosh PowerPoint</Application>
  <PresentationFormat>Широкоэкранный</PresentationFormat>
  <Paragraphs>30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Open Sans</vt:lpstr>
      <vt:lpstr>Тема Office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Анастасия Ракова</dc:creator>
  <cp:lastModifiedBy>Анастасия Ракова</cp:lastModifiedBy>
  <cp:revision>2</cp:revision>
  <dcterms:created xsi:type="dcterms:W3CDTF">2026-10-16T08:56:50Z</dcterms:created>
  <dcterms:modified xsi:type="dcterms:W3CDTF">2026-10-16T12:18:55Z</dcterms:modified>
</cp:coreProperties>
</file>